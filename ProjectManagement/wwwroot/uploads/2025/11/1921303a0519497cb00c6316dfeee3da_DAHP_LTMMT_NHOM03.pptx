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uli Bold" charset="1" panose="00000800000000000000"/>
      <p:regular r:id="rId15"/>
    </p:embeddedFont>
    <p:embeddedFont>
      <p:font typeface="DejaVu Serif Bold" charset="1" panose="02060803050605020204"/>
      <p:regular r:id="rId16"/>
    </p:embeddedFont>
    <p:embeddedFont>
      <p:font typeface="Asap Bold" charset="1" panose="020F0804030202060203"/>
      <p:regular r:id="rId17"/>
    </p:embeddedFont>
    <p:embeddedFont>
      <p:font typeface="Asap" charset="1" panose="020F0504030202060203"/>
      <p:regular r:id="rId18"/>
    </p:embeddedFont>
    <p:embeddedFont>
      <p:font typeface="DM Sans Bold" charset="1" panose="00000000000000000000"/>
      <p:regular r:id="rId19"/>
    </p:embeddedFont>
    <p:embeddedFont>
      <p:font typeface="Cooper Hewitt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gif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176696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6781" y="590858"/>
            <a:ext cx="4621228" cy="1484570"/>
          </a:xfrm>
          <a:custGeom>
            <a:avLst/>
            <a:gdLst/>
            <a:ahLst/>
            <a:cxnLst/>
            <a:rect r="r" b="b" t="t" l="l"/>
            <a:pathLst>
              <a:path h="1484570" w="4621228">
                <a:moveTo>
                  <a:pt x="0" y="0"/>
                </a:moveTo>
                <a:lnTo>
                  <a:pt x="4621228" y="0"/>
                </a:lnTo>
                <a:lnTo>
                  <a:pt x="4621228" y="1484570"/>
                </a:lnTo>
                <a:lnTo>
                  <a:pt x="0" y="148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46293">
            <a:off x="13678517" y="4926244"/>
            <a:ext cx="2389858" cy="2577298"/>
          </a:xfrm>
          <a:custGeom>
            <a:avLst/>
            <a:gdLst/>
            <a:ahLst/>
            <a:cxnLst/>
            <a:rect r="r" b="b" t="t" l="l"/>
            <a:pathLst>
              <a:path h="2577298" w="2389858">
                <a:moveTo>
                  <a:pt x="0" y="0"/>
                </a:moveTo>
                <a:lnTo>
                  <a:pt x="2389858" y="0"/>
                </a:lnTo>
                <a:lnTo>
                  <a:pt x="2389858" y="2577297"/>
                </a:lnTo>
                <a:lnTo>
                  <a:pt x="0" y="257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2737495" y="7114391"/>
            <a:ext cx="3026906" cy="163452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12737495" y="8482311"/>
            <a:ext cx="3026906" cy="775989"/>
          </a:xfrm>
          <a:custGeom>
            <a:avLst/>
            <a:gdLst/>
            <a:ahLst/>
            <a:cxnLst/>
            <a:rect r="r" b="b" t="t" l="l"/>
            <a:pathLst>
              <a:path h="775989" w="3026906">
                <a:moveTo>
                  <a:pt x="0" y="0"/>
                </a:moveTo>
                <a:lnTo>
                  <a:pt x="3026905" y="0"/>
                </a:lnTo>
                <a:lnTo>
                  <a:pt x="3026905" y="775989"/>
                </a:lnTo>
                <a:lnTo>
                  <a:pt x="0" y="7759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2532" y="2860662"/>
            <a:ext cx="15802936" cy="113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91"/>
              </a:lnSpc>
            </a:pPr>
            <a:r>
              <a:rPr lang="en-US" b="true" sz="6636" strike="noStrike" u="none">
                <a:solidFill>
                  <a:srgbClr val="006BB3"/>
                </a:solidFill>
                <a:latin typeface="Muli Bold"/>
                <a:ea typeface="Muli Bold"/>
                <a:cs typeface="Muli Bold"/>
                <a:sym typeface="Muli Bold"/>
              </a:rPr>
              <a:t>ỨNG D</a:t>
            </a:r>
            <a:r>
              <a:rPr lang="en-US" b="true" sz="6636" strike="noStrike" u="none">
                <a:solidFill>
                  <a:srgbClr val="006BB3"/>
                </a:solidFill>
                <a:latin typeface="Muli Bold"/>
                <a:ea typeface="Muli Bold"/>
                <a:cs typeface="Muli Bold"/>
                <a:sym typeface="Muli Bold"/>
              </a:rPr>
              <a:t>ỤNG PHÁT NHẠC TRỰC TUYẾN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532" y="5982343"/>
            <a:ext cx="11312802" cy="81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4723" b="tru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GVHD: TH.S NGUYỄN LÊ VĂN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532" y="3898898"/>
            <a:ext cx="13650315" cy="164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12"/>
              </a:lnSpc>
            </a:pPr>
            <a:r>
              <a:rPr lang="en-US" b="true" sz="4723">
                <a:solidFill>
                  <a:srgbClr val="006BB3"/>
                </a:solidFill>
                <a:latin typeface="Muli Bold"/>
                <a:ea typeface="Muli Bold"/>
                <a:cs typeface="Muli Bold"/>
                <a:sym typeface="Muli Bold"/>
              </a:rPr>
              <a:t>VỚI ĐỀ XUẤT TỰ ĐỘNG DỰA TRÊN SỞ THÍCH NGƯỜI DÙNG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2532" y="6707379"/>
            <a:ext cx="11998127" cy="72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2"/>
              </a:lnSpc>
            </a:pPr>
            <a:r>
              <a:rPr lang="en-US" sz="4273" b="tru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MÔN HỌC: LẬP TRÌNH MẠNG MÁY TÍNH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57291">
            <a:off x="16660825" y="6386297"/>
            <a:ext cx="1196951" cy="3090718"/>
          </a:xfrm>
          <a:custGeom>
            <a:avLst/>
            <a:gdLst/>
            <a:ahLst/>
            <a:cxnLst/>
            <a:rect r="r" b="b" t="t" l="l"/>
            <a:pathLst>
              <a:path h="3090718" w="1196951">
                <a:moveTo>
                  <a:pt x="0" y="0"/>
                </a:moveTo>
                <a:lnTo>
                  <a:pt x="1196950" y="0"/>
                </a:lnTo>
                <a:lnTo>
                  <a:pt x="1196950" y="3090717"/>
                </a:lnTo>
                <a:lnTo>
                  <a:pt x="0" y="3090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242532" y="7533385"/>
            <a:ext cx="1985792" cy="60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618" b="tru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NHÓM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68055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6781" y="590858"/>
            <a:ext cx="4621228" cy="1484570"/>
          </a:xfrm>
          <a:custGeom>
            <a:avLst/>
            <a:gdLst/>
            <a:ahLst/>
            <a:cxnLst/>
            <a:rect r="r" b="b" t="t" l="l"/>
            <a:pathLst>
              <a:path h="1484570" w="4621228">
                <a:moveTo>
                  <a:pt x="0" y="0"/>
                </a:moveTo>
                <a:lnTo>
                  <a:pt x="4621228" y="0"/>
                </a:lnTo>
                <a:lnTo>
                  <a:pt x="4621228" y="1484570"/>
                </a:lnTo>
                <a:lnTo>
                  <a:pt x="0" y="148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90256" y="360045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66584" y="3600450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86606" y="3600450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34062" y="3600450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54645" y="3984039"/>
            <a:ext cx="2061732" cy="2318921"/>
          </a:xfrm>
          <a:custGeom>
            <a:avLst/>
            <a:gdLst/>
            <a:ahLst/>
            <a:cxnLst/>
            <a:rect r="r" b="b" t="t" l="l"/>
            <a:pathLst>
              <a:path h="2318921" w="2061732">
                <a:moveTo>
                  <a:pt x="0" y="0"/>
                </a:moveTo>
                <a:lnTo>
                  <a:pt x="2061731" y="0"/>
                </a:lnTo>
                <a:lnTo>
                  <a:pt x="2061731" y="2318922"/>
                </a:lnTo>
                <a:lnTo>
                  <a:pt x="0" y="2318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72931" y="3912971"/>
            <a:ext cx="1977366" cy="2389990"/>
          </a:xfrm>
          <a:custGeom>
            <a:avLst/>
            <a:gdLst/>
            <a:ahLst/>
            <a:cxnLst/>
            <a:rect r="r" b="b" t="t" l="l"/>
            <a:pathLst>
              <a:path h="2389990" w="1977366">
                <a:moveTo>
                  <a:pt x="0" y="0"/>
                </a:moveTo>
                <a:lnTo>
                  <a:pt x="1977366" y="0"/>
                </a:lnTo>
                <a:lnTo>
                  <a:pt x="1977366" y="2389990"/>
                </a:lnTo>
                <a:lnTo>
                  <a:pt x="0" y="23899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85511" y="2256914"/>
            <a:ext cx="8334694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THÀNH VIÊN NHÓM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4645" y="7239000"/>
            <a:ext cx="25573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LÊ MINH QUÝ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95361" y="7239000"/>
            <a:ext cx="20697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ĐỖ GIA ÂN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18800" y="7239000"/>
            <a:ext cx="28217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BÙI NHẬT HUY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93155" y="7200900"/>
            <a:ext cx="376791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NGUYỄN T.PHƯƠNG THÙY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676603" y="3974675"/>
            <a:ext cx="2061732" cy="2318921"/>
          </a:xfrm>
          <a:custGeom>
            <a:avLst/>
            <a:gdLst/>
            <a:ahLst/>
            <a:cxnLst/>
            <a:rect r="r" b="b" t="t" l="l"/>
            <a:pathLst>
              <a:path h="2318921" w="2061732">
                <a:moveTo>
                  <a:pt x="0" y="0"/>
                </a:moveTo>
                <a:lnTo>
                  <a:pt x="2061731" y="0"/>
                </a:lnTo>
                <a:lnTo>
                  <a:pt x="2061731" y="2318921"/>
                </a:lnTo>
                <a:lnTo>
                  <a:pt x="0" y="23189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198431" y="3984039"/>
            <a:ext cx="2061732" cy="2318921"/>
          </a:xfrm>
          <a:custGeom>
            <a:avLst/>
            <a:gdLst/>
            <a:ahLst/>
            <a:cxnLst/>
            <a:rect r="r" b="b" t="t" l="l"/>
            <a:pathLst>
              <a:path h="2318921" w="2061732">
                <a:moveTo>
                  <a:pt x="0" y="0"/>
                </a:moveTo>
                <a:lnTo>
                  <a:pt x="2061731" y="0"/>
                </a:lnTo>
                <a:lnTo>
                  <a:pt x="2061731" y="2318922"/>
                </a:lnTo>
                <a:lnTo>
                  <a:pt x="0" y="2318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504646" y="7818333"/>
            <a:ext cx="2451212" cy="46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34343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2280600147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51506" y="8328767"/>
            <a:ext cx="2451212" cy="46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34343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2280603166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03691" y="7850825"/>
            <a:ext cx="2451212" cy="46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34343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2280618692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7700" y="7831775"/>
            <a:ext cx="2451212" cy="46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34343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2280602656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68055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8561" y="447877"/>
            <a:ext cx="3616021" cy="1161647"/>
          </a:xfrm>
          <a:custGeom>
            <a:avLst/>
            <a:gdLst/>
            <a:ahLst/>
            <a:cxnLst/>
            <a:rect r="r" b="b" t="t" l="l"/>
            <a:pathLst>
              <a:path h="1161647" w="3616021">
                <a:moveTo>
                  <a:pt x="0" y="0"/>
                </a:moveTo>
                <a:lnTo>
                  <a:pt x="3616021" y="0"/>
                </a:lnTo>
                <a:lnTo>
                  <a:pt x="3616021" y="1161646"/>
                </a:lnTo>
                <a:lnTo>
                  <a:pt x="0" y="1161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31869" y="1520038"/>
            <a:ext cx="8995080" cy="126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3"/>
              </a:lnSpc>
            </a:pPr>
            <a:r>
              <a:rPr lang="en-US" b="true" sz="8748">
                <a:solidFill>
                  <a:srgbClr val="006BB3"/>
                </a:solidFill>
                <a:latin typeface="Asap Bold"/>
                <a:ea typeface="Asap Bold"/>
                <a:cs typeface="Asap Bold"/>
                <a:sym typeface="Asap Bold"/>
              </a:rPr>
              <a:t>Nội Dung Chính</a:t>
            </a:r>
          </a:p>
        </p:txBody>
      </p:sp>
      <p:sp>
        <p:nvSpPr>
          <p:cNvPr name="AutoShape 5" id="5"/>
          <p:cNvSpPr/>
          <p:nvPr/>
        </p:nvSpPr>
        <p:spPr>
          <a:xfrm>
            <a:off x="382871" y="4427618"/>
            <a:ext cx="10669407" cy="0"/>
          </a:xfrm>
          <a:prstGeom prst="line">
            <a:avLst/>
          </a:prstGeom>
          <a:ln cap="rnd" w="28575">
            <a:solidFill>
              <a:srgbClr val="77A8CD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2871" y="6161191"/>
            <a:ext cx="10669407" cy="0"/>
          </a:xfrm>
          <a:prstGeom prst="line">
            <a:avLst/>
          </a:prstGeom>
          <a:ln cap="rnd" w="28575">
            <a:solidFill>
              <a:srgbClr val="77A8CD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217160" y="3214696"/>
            <a:ext cx="996498" cy="71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963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7160" y="4948269"/>
            <a:ext cx="996498" cy="71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963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7160" y="8416572"/>
            <a:ext cx="996498" cy="71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963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1867" y="3104326"/>
            <a:ext cx="7792446" cy="9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5985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Tổng quan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81867" y="4821726"/>
            <a:ext cx="10889418" cy="9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5985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Cơ sở lý thuyết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81867" y="8290029"/>
            <a:ext cx="11127736" cy="9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5985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K</a:t>
            </a:r>
            <a:r>
              <a:rPr lang="en-US" b="true" sz="5985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ết luận và kiến nghị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17160" y="6778272"/>
            <a:ext cx="996498" cy="71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963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81867" y="6651729"/>
            <a:ext cx="11127736" cy="9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5985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Kết quả thực nghiệm</a:t>
            </a:r>
          </a:p>
        </p:txBody>
      </p:sp>
      <p:sp>
        <p:nvSpPr>
          <p:cNvPr name="AutoShape 15" id="15"/>
          <p:cNvSpPr/>
          <p:nvPr/>
        </p:nvSpPr>
        <p:spPr>
          <a:xfrm>
            <a:off x="382871" y="7900988"/>
            <a:ext cx="10669407" cy="0"/>
          </a:xfrm>
          <a:prstGeom prst="line">
            <a:avLst/>
          </a:prstGeom>
          <a:ln cap="rnd" w="28575">
            <a:solidFill>
              <a:srgbClr val="77A8CD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6911744" y="9796044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68055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865" y="511538"/>
            <a:ext cx="2892515" cy="929220"/>
          </a:xfrm>
          <a:custGeom>
            <a:avLst/>
            <a:gdLst/>
            <a:ahLst/>
            <a:cxnLst/>
            <a:rect r="r" b="b" t="t" l="l"/>
            <a:pathLst>
              <a:path h="929220" w="2892515">
                <a:moveTo>
                  <a:pt x="0" y="0"/>
                </a:moveTo>
                <a:lnTo>
                  <a:pt x="2892515" y="0"/>
                </a:lnTo>
                <a:lnTo>
                  <a:pt x="2892515" y="929220"/>
                </a:lnTo>
                <a:lnTo>
                  <a:pt x="0" y="929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58034" y="904875"/>
            <a:ext cx="9066007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006BB3"/>
                </a:solidFill>
                <a:latin typeface="Muli Bold"/>
                <a:ea typeface="Muli Bold"/>
                <a:cs typeface="Muli Bold"/>
                <a:sym typeface="Muli Bold"/>
              </a:rPr>
              <a:t>CHƯƠNG I. TỔNG QUAN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33630" y="9771667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0353" y="2470113"/>
            <a:ext cx="5118054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006BB3"/>
                </a:solidFill>
                <a:latin typeface="Asap Bold"/>
                <a:ea typeface="Asap Bold"/>
                <a:cs typeface="Asap Bold"/>
                <a:sym typeface="Asap Bold"/>
              </a:rPr>
              <a:t>1.1. Tính Cấp thiết</a:t>
            </a:r>
          </a:p>
          <a:p>
            <a:pPr algn="l">
              <a:lnSpc>
                <a:spcPts val="53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45602" y="3203167"/>
            <a:ext cx="1669376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Vấn đề: Các nền tảng hiện có thiếu tính cá nhân hóa sâu và yêu cầu trả phí.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5602" y="3919783"/>
            <a:ext cx="1591369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Nhu cầu: Cần phát triển một ứng dụng phát nhạc trực tuyến tích hợp gợi ý tự động dựa trên thói quen nghe nhạc cá nhân.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0353" y="5278719"/>
            <a:ext cx="5965533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006BB3"/>
                </a:solidFill>
                <a:latin typeface="Asap Bold"/>
                <a:ea typeface="Asap Bold"/>
                <a:cs typeface="Asap Bold"/>
                <a:sym typeface="Asap Bold"/>
              </a:rPr>
              <a:t>1.2 Mục tiêu Đề tài</a:t>
            </a:r>
          </a:p>
          <a:p>
            <a:pPr algn="l">
              <a:lnSpc>
                <a:spcPts val="532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5602" y="6152641"/>
            <a:ext cx="16217979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999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Xây dựng hệ thống phát nhạc trực tuyến mượt mà bằng giao thức HLS.</a:t>
            </a:r>
          </a:p>
          <a:p>
            <a:pPr algn="l">
              <a:lnSpc>
                <a:spcPts val="3059"/>
              </a:lnSpc>
            </a:pPr>
          </a:p>
          <a:p>
            <a:pPr algn="l">
              <a:lnSpc>
                <a:spcPts val="3059"/>
              </a:lnSpc>
            </a:pPr>
            <a:r>
              <a:rPr lang="en-US" sz="2999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Phát triển hệ thống gợi ý bài hát tự động dựa trên lịch sử ngh</a:t>
            </a:r>
            <a:r>
              <a:rPr lang="en-US" sz="2999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e (Listening History).</a:t>
            </a:r>
          </a:p>
          <a:p>
            <a:pPr algn="l">
              <a:lnSpc>
                <a:spcPts val="3059"/>
              </a:lnSpc>
            </a:pPr>
          </a:p>
          <a:p>
            <a:pPr algn="l">
              <a:lnSpc>
                <a:spcPts val="3059"/>
              </a:lnSpc>
            </a:pPr>
            <a:r>
              <a:rPr lang="en-US" sz="2999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Đảm bảo tính ổn định, an toàn cơ bản và khả năng mở rộng (sử dụng Java/Spring Boot).</a:t>
            </a:r>
          </a:p>
          <a:p>
            <a:pPr algn="l">
              <a:lnSpc>
                <a:spcPts val="30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4373" y="-4881388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5458" y="1827445"/>
            <a:ext cx="6782787" cy="7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5"/>
              </a:lnSpc>
            </a:pPr>
            <a:r>
              <a:rPr lang="en-US" sz="400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2.1 KIẾN THỨC NỀN TẢNG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54767" y="9796388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8559" y="2599613"/>
            <a:ext cx="8305441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Phát nhạc trực tuyến: Hoạt động dựa trên giao thức HLS (HTTP Live Streaming)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RESTful API &amp; HTTPS: Dùng để giao tiếp giữa client và server thông qua các endpoint.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WebSocket: Cho phép giao tiếp hai chiều theo thời gian thực.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574848" y="1875070"/>
            <a:ext cx="6782787" cy="7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5"/>
              </a:lnSpc>
            </a:pPr>
            <a:r>
              <a:rPr lang="en-US" sz="400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2.2 MÔ HÌNH HỆ THỐNG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19714" y="2724116"/>
            <a:ext cx="7225732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Server: xử lý yêu cầu phát nhạc, quản lý người dùng.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 Client: phát nhạc, hiển thị gợi ý, quản lý playlist, tài khoản.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CSDL: lưu thông tin người dùng, bài hát, lịch sử nghe.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3268" y="6248006"/>
            <a:ext cx="6782787" cy="7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5"/>
              </a:lnSpc>
            </a:pPr>
            <a:r>
              <a:rPr lang="en-US" sz="400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2.3 CÔNG NGHỆ SỬ DỤNG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91280" y="7096375"/>
            <a:ext cx="9712196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Ngôn ngữ: Java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Cơ sở dữ liệu: MySQL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 Công cụ &amp; Framework: 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Spring Boot (xây dựng backend, REST api)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HTML, CSS ,JS (xử lý giao diện tương tác người dùng)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45331" y="447675"/>
            <a:ext cx="11278881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006BB3"/>
                </a:solidFill>
                <a:latin typeface="Asap Bold"/>
                <a:ea typeface="Asap Bold"/>
                <a:cs typeface="Asap Bold"/>
                <a:sym typeface="Asap Bold"/>
              </a:rPr>
              <a:t>CHƯƠNG II. CƠ SỞ LÝ THUYẾT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38559" y="6062269"/>
            <a:ext cx="16839251" cy="0"/>
          </a:xfrm>
          <a:prstGeom prst="line">
            <a:avLst/>
          </a:prstGeom>
          <a:ln cap="rnd" w="28575">
            <a:solidFill>
              <a:srgbClr val="77A8CD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09075" y="310880"/>
            <a:ext cx="3193564" cy="1025932"/>
          </a:xfrm>
          <a:custGeom>
            <a:avLst/>
            <a:gdLst/>
            <a:ahLst/>
            <a:cxnLst/>
            <a:rect r="r" b="b" t="t" l="l"/>
            <a:pathLst>
              <a:path h="1025932" w="3193564">
                <a:moveTo>
                  <a:pt x="0" y="0"/>
                </a:moveTo>
                <a:lnTo>
                  <a:pt x="3193564" y="0"/>
                </a:lnTo>
                <a:lnTo>
                  <a:pt x="3193564" y="1025932"/>
                </a:lnTo>
                <a:lnTo>
                  <a:pt x="0" y="1025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5561" y="-749763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9814" y="4340563"/>
            <a:ext cx="1590199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Biểu đồ UML (Use Case, Class) mô tả các tương tác chính. Kiến trúc client-server: Client gửi yêu cầu qua API, Server xử lý &amp; trả dữ liệu JSON.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56431" y="972566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9122" y="3617932"/>
            <a:ext cx="6943124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3.1 TRIỂN KHAI HỆ THỐNG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6189" y="6292015"/>
            <a:ext cx="1590199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Đăng nhập, đăng ký, quản lý tài khoản. Phát nhạc trực tuyến qua HLS. Gợi ý nhạc tự động. Tạo và chia sẻ playlist. Tìm kiếm...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9122" y="5569923"/>
            <a:ext cx="728837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3.2</a:t>
            </a:r>
            <a:r>
              <a:rPr lang="en-US" b="true" sz="4199" strike="noStrike" u="non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 CÁC CHỨC NĂNG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93564" y="1723535"/>
            <a:ext cx="12964967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006BB3"/>
                </a:solidFill>
                <a:latin typeface="Asap Bold"/>
                <a:ea typeface="Asap Bold"/>
                <a:cs typeface="Asap Bold"/>
                <a:sym typeface="Asap Bold"/>
              </a:rPr>
              <a:t>CHƯƠNG III. KẾT QUẢ THỰC NGHIỆM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09075" y="310880"/>
            <a:ext cx="3193564" cy="1025932"/>
          </a:xfrm>
          <a:custGeom>
            <a:avLst/>
            <a:gdLst/>
            <a:ahLst/>
            <a:cxnLst/>
            <a:rect r="r" b="b" t="t" l="l"/>
            <a:pathLst>
              <a:path h="1025932" w="3193564">
                <a:moveTo>
                  <a:pt x="0" y="0"/>
                </a:moveTo>
                <a:lnTo>
                  <a:pt x="3193564" y="0"/>
                </a:lnTo>
                <a:lnTo>
                  <a:pt x="3193564" y="1025932"/>
                </a:lnTo>
                <a:lnTo>
                  <a:pt x="0" y="1025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681243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6278" y="904875"/>
            <a:ext cx="13499928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006BB3"/>
                </a:solidFill>
                <a:latin typeface="Asap Bold"/>
                <a:ea typeface="Asap Bold"/>
                <a:cs typeface="Asap Bold"/>
                <a:sym typeface="Asap Bold"/>
              </a:rPr>
              <a:t>CHƯƠNG 4. KẾT LUẬN VÀ KIẾN NGHỊ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12819" y="9502758"/>
            <a:ext cx="7493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8175" y="3499470"/>
            <a:ext cx="3913205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ƯU ĐIỂM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4300" y="4444721"/>
            <a:ext cx="6964450" cy="510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Ổn định: Hệ thống vận hành ổn định, tốc độ phát nhạc mượt mà nhờ HLS.</a:t>
            </a:r>
          </a:p>
          <a:p>
            <a:pPr algn="just" marL="703606" indent="-351803" lvl="1">
              <a:lnSpc>
                <a:spcPts val="4562"/>
              </a:lnSpc>
              <a:buFont typeface="Arial"/>
              <a:buChar char="•"/>
            </a:pPr>
            <a:r>
              <a:rPr lang="en-US" sz="3258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Cấu trúc: Mã nguồn rõ ràng (MVC), dễ bảo trì và mở rộng (Spring Boot).</a:t>
            </a:r>
          </a:p>
          <a:p>
            <a:pPr algn="just" marL="703606" indent="-351803" lvl="1">
              <a:lnSpc>
                <a:spcPts val="4562"/>
              </a:lnSpc>
              <a:buFont typeface="Arial"/>
              <a:buChar char="•"/>
            </a:pPr>
            <a:r>
              <a:rPr lang="en-US" sz="3258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Thân thiện: Giao diện đơn giản, dễ sử dụng.</a:t>
            </a:r>
          </a:p>
          <a:p>
            <a:pPr algn="just">
              <a:lnSpc>
                <a:spcPts val="4982"/>
              </a:lnSpc>
            </a:pPr>
            <a:r>
              <a:rPr lang="en-US" sz="3558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9075" y="310880"/>
            <a:ext cx="3193564" cy="1025932"/>
          </a:xfrm>
          <a:custGeom>
            <a:avLst/>
            <a:gdLst/>
            <a:ahLst/>
            <a:cxnLst/>
            <a:rect r="r" b="b" t="t" l="l"/>
            <a:pathLst>
              <a:path h="1025932" w="3193564">
                <a:moveTo>
                  <a:pt x="0" y="0"/>
                </a:moveTo>
                <a:lnTo>
                  <a:pt x="3193564" y="0"/>
                </a:lnTo>
                <a:lnTo>
                  <a:pt x="3193564" y="1025932"/>
                </a:lnTo>
                <a:lnTo>
                  <a:pt x="0" y="1025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13452" y="4384022"/>
            <a:ext cx="7950432" cy="596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Thuật toán Gợi ý: Còn đơn giản, chỉ dựa trên lịch sử nghe, chưa áp dụng ML/DL nâng cao.</a:t>
            </a:r>
          </a:p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Bảo</a:t>
            </a:r>
            <a:r>
              <a:rPr lang="en-US" sz="309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 mật: Token JWT hiện đang truyền qua URL trong một số tác vụ quản trị (cần cải thiện).</a:t>
            </a:r>
          </a:p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Giao diện/Tính năng: Chưa có tính năng tương tác thời gian thực (bình luận, chia sẻ), chưa có ứng dụng di động.</a:t>
            </a:r>
          </a:p>
          <a:p>
            <a:pPr algn="just">
              <a:lnSpc>
                <a:spcPts val="4339"/>
              </a:lnSpc>
            </a:pPr>
          </a:p>
          <a:p>
            <a:pPr algn="just">
              <a:lnSpc>
                <a:spcPts val="43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36241" y="3499470"/>
            <a:ext cx="7148659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 HẠN CHẾ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828882" y="2043241"/>
            <a:ext cx="10920334" cy="103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0"/>
              </a:lnSpc>
            </a:pPr>
            <a:r>
              <a:rPr lang="en-US" sz="6043" b="true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4.1 Ưu điểm và hạn chế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679413" y="3347070"/>
            <a:ext cx="14005973" cy="0"/>
          </a:xfrm>
          <a:prstGeom prst="line">
            <a:avLst/>
          </a:prstGeom>
          <a:ln cap="rnd" w="28575">
            <a:solidFill>
              <a:srgbClr val="77A8CD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8814486" y="3575670"/>
            <a:ext cx="0" cy="5682630"/>
          </a:xfrm>
          <a:prstGeom prst="line">
            <a:avLst/>
          </a:prstGeom>
          <a:ln cap="rnd" w="28575">
            <a:solidFill>
              <a:srgbClr val="77A8CD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2421409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56431" y="9502758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7608" y="2775080"/>
            <a:ext cx="17080392" cy="168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1"/>
              </a:lnSpc>
            </a:pPr>
            <a:r>
              <a:rPr lang="en-US" sz="3222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Đã xây dựng được ứng dụng nghe nhạc trực tuyến. </a:t>
            </a:r>
          </a:p>
          <a:p>
            <a:pPr algn="just">
              <a:lnSpc>
                <a:spcPts val="4511"/>
              </a:lnSpc>
            </a:pPr>
            <a:r>
              <a:rPr lang="en-US" sz="3222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Hệ thống đáp ứng yêu cầu kỹ thuật về bảo mật, streaming. </a:t>
            </a:r>
          </a:p>
          <a:p>
            <a:pPr algn="just">
              <a:lnSpc>
                <a:spcPts val="4511"/>
              </a:lnSpc>
            </a:pPr>
            <a:r>
              <a:rPr lang="en-US" sz="3222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Mô hình có thể mở rộng thành nền tảng thương mại.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2715" y="2009295"/>
            <a:ext cx="5831926" cy="69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b="true" sz="4081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4.2 KẾT LUẬN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1125" y="6282797"/>
            <a:ext cx="16376167" cy="216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5"/>
              </a:lnSpc>
            </a:pPr>
            <a:r>
              <a:rPr lang="en-US" sz="308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Mở rộng thuật toán đề xuất bằng Deep Learning (Neural Network Recommendation). </a:t>
            </a:r>
          </a:p>
          <a:p>
            <a:pPr algn="just">
              <a:lnSpc>
                <a:spcPts val="4325"/>
              </a:lnSpc>
            </a:pPr>
            <a:r>
              <a:rPr lang="en-US" sz="308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Tích hợp Spotify API hoặc Last.fm API để tăng dữ liệu gợi ý. </a:t>
            </a:r>
          </a:p>
          <a:p>
            <a:pPr algn="just">
              <a:lnSpc>
                <a:spcPts val="4325"/>
              </a:lnSpc>
            </a:pPr>
            <a:r>
              <a:rPr lang="en-US" sz="308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Phát triển ứng dụng di động đa nền tảng (Android/iOS). </a:t>
            </a:r>
          </a:p>
          <a:p>
            <a:pPr algn="just">
              <a:lnSpc>
                <a:spcPts val="4325"/>
              </a:lnSpc>
            </a:pPr>
            <a:r>
              <a:rPr lang="en-US" sz="3089">
                <a:solidFill>
                  <a:srgbClr val="343434"/>
                </a:solidFill>
                <a:latin typeface="Asap"/>
                <a:ea typeface="Asap"/>
                <a:cs typeface="Asap"/>
                <a:sym typeface="Asap"/>
              </a:rPr>
              <a:t>Cải thiện hệ thống gợi ý dựa trên âm thanh (audio features) chứ không chỉ hành vi người dùng.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3352" y="5487123"/>
            <a:ext cx="11825609" cy="67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8"/>
              </a:lnSpc>
            </a:pPr>
            <a:r>
              <a:rPr lang="en-US" b="true" sz="3913">
                <a:solidFill>
                  <a:srgbClr val="343434"/>
                </a:solidFill>
                <a:latin typeface="Asap Bold"/>
                <a:ea typeface="Asap Bold"/>
                <a:cs typeface="Asap Bold"/>
                <a:sym typeface="Asap Bold"/>
              </a:rPr>
              <a:t>4.3 KIẾN NGHỊ VÀ HƯỚNG PHÁT TRIỂN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3352" y="326706"/>
            <a:ext cx="3193564" cy="1025932"/>
          </a:xfrm>
          <a:custGeom>
            <a:avLst/>
            <a:gdLst/>
            <a:ahLst/>
            <a:cxnLst/>
            <a:rect r="r" b="b" t="t" l="l"/>
            <a:pathLst>
              <a:path h="1025932" w="3193564">
                <a:moveTo>
                  <a:pt x="0" y="0"/>
                </a:moveTo>
                <a:lnTo>
                  <a:pt x="3193564" y="0"/>
                </a:lnTo>
                <a:lnTo>
                  <a:pt x="3193564" y="1025933"/>
                </a:lnTo>
                <a:lnTo>
                  <a:pt x="0" y="1025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404" y="2456325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DAG2VH7Ut1s</dc:identifier>
  <dcterms:modified xsi:type="dcterms:W3CDTF">2011-08-01T06:04:30Z</dcterms:modified>
  <cp:revision>1</cp:revision>
  <dc:title>Pink and Purple Illustrative Computer Technology Presentation</dc:title>
</cp:coreProperties>
</file>